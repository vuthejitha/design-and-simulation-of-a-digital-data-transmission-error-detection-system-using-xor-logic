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lcome" initials="W" lastIdx="1" clrIdx="0">
    <p:extLst>
      <p:ext uri="{19B8F6BF-5375-455C-9EA6-DF929625EA0E}">
        <p15:presenceInfo xmlns:p15="http://schemas.microsoft.com/office/powerpoint/2012/main" userId="c31ae1b16db95b9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72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09T14:59:53.878" idx="1">
    <p:pos x="7286" y="95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535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DESIGN &amp; COMPUTER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698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Simulation of a Digital Data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Transmission Error-Detection System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XOR Logic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5212080"/>
            <a:ext cx="2944368" cy="457200"/>
          </a:xfrm>
          <a:prstGeom prst="roundRect">
            <a:avLst>
              <a:gd name="adj" fmla="val 50000"/>
            </a:avLst>
          </a:prstGeom>
          <a:ln w="15875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78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&amp; HEX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931920" y="5212080"/>
            <a:ext cx="3968496" cy="457200"/>
          </a:xfrm>
          <a:prstGeom prst="roundRect">
            <a:avLst>
              <a:gd name="adj" fmla="val 50000"/>
            </a:avLst>
          </a:prstGeom>
          <a:ln w="15875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5212080"/>
            <a:ext cx="396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LOGISIM BLACK-BOX DESIGN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56448" y="5212080"/>
            <a:ext cx="3236976" cy="457200"/>
          </a:xfrm>
          <a:prstGeom prst="roundRect">
            <a:avLst>
              <a:gd name="adj" fmla="val 50000"/>
            </a:avLst>
          </a:prstGeom>
          <a:ln w="15875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56448" y="521208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SOFTWARE MODEL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4688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6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37160"/>
            <a:ext cx="10500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&amp; Black-Box Thinking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234440" y="658368"/>
            <a:ext cx="105000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12000"/>
              </a:lnSpc>
              <a:spcAft>
                <a:spcPts val="2000"/>
              </a:spcAft>
              <a:buSzPct val="100000"/>
              <a:buChar char="▪"/>
            </a:pPr>
            <a:endParaRPr lang="en-US" sz="1600" dirty="0"/>
          </a:p>
          <a:p>
            <a:pPr marL="228600" indent="-228600" algn="l">
              <a:lnSpc>
                <a:spcPct val="112000"/>
              </a:lnSpc>
              <a:spcAft>
                <a:spcPts val="2000"/>
              </a:spcAft>
              <a:buSzPct val="100000"/>
              <a:buChar char="▪"/>
            </a:pPr>
            <a:endParaRPr lang="en-US" sz="1600" dirty="0"/>
          </a:p>
          <a:p>
            <a:pPr marL="228600" indent="-228600" algn="l">
              <a:lnSpc>
                <a:spcPct val="112000"/>
              </a:lnSpc>
              <a:spcAft>
                <a:spcPts val="2000"/>
              </a:spcAft>
              <a:buSzPct val="100000"/>
              <a:buChar char="▪"/>
            </a:pPr>
            <a:endParaRPr lang="en-US" sz="1600" dirty="0"/>
          </a:p>
          <a:p>
            <a:pPr marL="228600" indent="-228600" algn="l">
              <a:lnSpc>
                <a:spcPct val="112000"/>
              </a:lnSpc>
              <a:spcAft>
                <a:spcPts val="2000"/>
              </a:spcAft>
              <a:buSzPct val="100000"/>
              <a:buChar char="▪"/>
            </a:pPr>
            <a:endParaRPr lang="en-US" sz="1600" dirty="0"/>
          </a:p>
          <a:p>
            <a:pPr marL="228600" indent="-228600" algn="l">
              <a:lnSpc>
                <a:spcPct val="112000"/>
              </a:lnSpc>
              <a:spcAft>
                <a:spcPts val="2000"/>
              </a:spcAft>
              <a:buSzPct val="100000"/>
              <a:buChar char="▪"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B93B74-C67A-4486-88D7-3B81833831D0}"/>
              </a:ext>
            </a:extLst>
          </p:cNvPr>
          <p:cNvSpPr/>
          <p:nvPr/>
        </p:nvSpPr>
        <p:spPr>
          <a:xfrm>
            <a:off x="970417" y="1891615"/>
            <a:ext cx="1062691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rgbClr val="FFFF00"/>
                </a:solidFill>
                <a:latin typeface="Google Sans"/>
              </a:rPr>
              <a:t>Top-Down Design</a:t>
            </a:r>
            <a:r>
              <a:rPr lang="en-US" altLang="en-US" sz="2000" b="1" dirty="0">
                <a:solidFill>
                  <a:schemeClr val="bg1"/>
                </a:solidFill>
                <a:latin typeface="Google Sans"/>
              </a:rPr>
              <a:t>:</a:t>
            </a:r>
            <a:r>
              <a:rPr lang="en-US" altLang="en-US" sz="2000" dirty="0">
                <a:solidFill>
                  <a:schemeClr val="bg1"/>
                </a:solidFill>
                <a:latin typeface="Google Sans"/>
              </a:rPr>
              <a:t> System architecture is built using high-level "black-box" components first, deferring internal gate-level details for later modules.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rgbClr val="FFFF00"/>
                </a:solidFill>
                <a:latin typeface="Google Sans"/>
              </a:rPr>
              <a:t>The Noise Problem</a:t>
            </a:r>
            <a:r>
              <a:rPr lang="en-US" altLang="en-US" sz="2000" b="1" dirty="0">
                <a:solidFill>
                  <a:schemeClr val="bg1"/>
                </a:solidFill>
                <a:latin typeface="Google Sans"/>
              </a:rPr>
              <a:t>:</a:t>
            </a:r>
            <a:r>
              <a:rPr lang="en-US" altLang="en-US" sz="2000" dirty="0">
                <a:solidFill>
                  <a:schemeClr val="bg1"/>
                </a:solidFill>
                <a:latin typeface="Google Sans"/>
              </a:rPr>
              <a:t> Physical memory and transmission wiring are constantly exposed to environmental electrical noise.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rgbClr val="FFFF00"/>
                </a:solidFill>
                <a:latin typeface="Google Sans"/>
              </a:rPr>
              <a:t>Bit-Flip Vulnerability</a:t>
            </a:r>
            <a:r>
              <a:rPr lang="en-US" altLang="en-US" sz="2000" b="1" dirty="0">
                <a:solidFill>
                  <a:schemeClr val="bg1"/>
                </a:solidFill>
                <a:latin typeface="Google Sans"/>
              </a:rPr>
              <a:t>:</a:t>
            </a:r>
            <a:r>
              <a:rPr lang="en-US" altLang="en-US" sz="2000" dirty="0">
                <a:solidFill>
                  <a:schemeClr val="bg1"/>
                </a:solidFill>
                <a:latin typeface="Google Sans"/>
              </a:rPr>
              <a:t> Random electrical interference can silently flip binary bits, corrupting critical instructions or data values.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rgbClr val="FFFF00"/>
                </a:solidFill>
                <a:latin typeface="Google Sans"/>
              </a:rPr>
              <a:t>Proactive Prevention</a:t>
            </a:r>
            <a:r>
              <a:rPr lang="en-US" altLang="en-US" sz="2000" b="1" dirty="0">
                <a:solidFill>
                  <a:schemeClr val="bg1"/>
                </a:solidFill>
                <a:latin typeface="Google Sans"/>
              </a:rPr>
              <a:t>:</a:t>
            </a:r>
            <a:r>
              <a:rPr lang="en-US" altLang="en-US" sz="2000" dirty="0">
                <a:solidFill>
                  <a:schemeClr val="bg1"/>
                </a:solidFill>
                <a:latin typeface="Google Sans"/>
              </a:rPr>
              <a:t> Errors must be detected and flagged at the hardware level before any processed information can be trusted.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rgbClr val="FFFF00"/>
                </a:solidFill>
                <a:latin typeface="Google Sans"/>
              </a:rPr>
              <a:t>XOR-Centric Logic</a:t>
            </a:r>
            <a:r>
              <a:rPr lang="en-US" altLang="en-US" sz="2000" b="1" dirty="0">
                <a:solidFill>
                  <a:schemeClr val="bg1"/>
                </a:solidFill>
                <a:latin typeface="Google Sans"/>
              </a:rPr>
              <a:t>:</a:t>
            </a:r>
            <a:r>
              <a:rPr lang="en-US" altLang="en-US" sz="2000" dirty="0">
                <a:solidFill>
                  <a:schemeClr val="bg1"/>
                </a:solidFill>
                <a:latin typeface="Google Sans"/>
              </a:rPr>
              <a:t> System detection relies entirely on the foundational two-input, one-output behavior of the XOR gate.</a:t>
            </a:r>
            <a:r>
              <a:rPr lang="en-US" altLang="en-US" sz="2000" dirty="0">
                <a:solidFill>
                  <a:schemeClr val="bg1"/>
                </a:solidFill>
              </a:rPr>
              <a:t> </a:t>
            </a: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457200" y="24688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6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37160"/>
            <a:ext cx="10500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Foundations: Binary, Hex &amp; XOR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234440" y="658368"/>
            <a:ext cx="105000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READING THE MACHINE &amp; THE DATAPATH AS BLACK BOXES</a:t>
            </a:r>
            <a:endParaRPr lang="en-US" sz="105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58293" y="1429817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Bits</a:t>
            </a:r>
            <a:endParaRPr lang="en-US" sz="2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600" dirty="0">
              <a:solidFill>
                <a:schemeClr val="bg2"/>
              </a:solidFill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915917"/>
              </p:ext>
            </p:extLst>
          </p:nvPr>
        </p:nvGraphicFramePr>
        <p:xfrm>
          <a:off x="457200" y="3840480"/>
          <a:ext cx="5212080" cy="128413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(D7…D0)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1010 1101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kern="12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</a:t>
                      </a:r>
                      <a:endParaRPr lang="en-US" sz="1400" kern="1200" dirty="0">
                        <a:solidFill>
                          <a:srgbClr val="1B2A4A"/>
                        </a:solidFill>
                        <a:latin typeface="Courier New" pitchFamily="34" charset="0"/>
                        <a:ea typeface="Courier New" charset="0"/>
                        <a:cs typeface="Courier New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484467" y="1413046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as a Black Box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6484467" y="203454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treats the ALU and register file as black boxes — used by what they do, not how they're wired inside. We treat XOR the same way.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450390"/>
              </p:ext>
            </p:extLst>
          </p:nvPr>
        </p:nvGraphicFramePr>
        <p:xfrm>
          <a:off x="7063740" y="3383280"/>
          <a:ext cx="3840480" cy="21031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⊕ B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solidFill>
                          <a:schemeClr val="bg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solidFill>
                          <a:schemeClr val="bg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solidFill>
                          <a:schemeClr val="bg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solidFill>
                          <a:schemeClr val="bg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solidFill>
                          <a:schemeClr val="bg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FFFF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solidFill>
                          <a:srgbClr val="FFFF00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solidFill>
                          <a:schemeClr val="bg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solidFill>
                          <a:schemeClr val="bg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FFFF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solidFill>
                          <a:srgbClr val="FFFF00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solidFill>
                          <a:schemeClr val="bg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50" dirty="0">
                        <a:solidFill>
                          <a:schemeClr val="bg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50" dirty="0">
                        <a:solidFill>
                          <a:schemeClr val="bg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1612D15-BCD9-4A3D-BE70-189EC8048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82118"/>
            <a:ext cx="65" cy="964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03136" rIns="0" bIns="20313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4C1682FB-2D84-4BEC-87AE-476C92EE2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267990-CDD6-4157-B000-F70072B71194}"/>
              </a:ext>
            </a:extLst>
          </p:cNvPr>
          <p:cNvSpPr/>
          <p:nvPr/>
        </p:nvSpPr>
        <p:spPr>
          <a:xfrm>
            <a:off x="176607" y="1839484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solidFill>
                  <a:schemeClr val="bg1"/>
                </a:solidFill>
                <a:latin typeface="Google Sans"/>
              </a:rPr>
              <a:t>Binary Foundation:</a:t>
            </a:r>
            <a:r>
              <a:rPr lang="en-US" altLang="en-US" sz="1400" dirty="0">
                <a:solidFill>
                  <a:schemeClr val="bg1"/>
                </a:solidFill>
                <a:latin typeface="Google Sans"/>
              </a:rPr>
              <a:t> Systems process information as raw 8-bit patterns (e.g., </a:t>
            </a:r>
            <a:r>
              <a:rPr lang="en-US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1010 1101</a:t>
            </a:r>
            <a:r>
              <a:rPr lang="en-US" altLang="en-US" sz="1400" dirty="0">
                <a:solidFill>
                  <a:schemeClr val="bg1"/>
                </a:solidFill>
                <a:latin typeface="Google Sans"/>
              </a:rPr>
              <a:t>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solidFill>
                  <a:schemeClr val="bg1"/>
                </a:solidFill>
                <a:latin typeface="Google Sans"/>
              </a:rPr>
              <a:t>Hex Shorthand:</a:t>
            </a:r>
            <a:r>
              <a:rPr lang="en-US" altLang="en-US" sz="1400" dirty="0">
                <a:solidFill>
                  <a:schemeClr val="bg1"/>
                </a:solidFill>
                <a:latin typeface="Google Sans"/>
              </a:rPr>
              <a:t> Hexadecimal notation (</a:t>
            </a:r>
            <a:r>
              <a:rPr lang="en-US" alt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</a:t>
            </a:r>
            <a:r>
              <a:rPr lang="en-US" altLang="en-US" sz="1400" dirty="0">
                <a:solidFill>
                  <a:schemeClr val="bg1"/>
                </a:solidFill>
                <a:latin typeface="Google Sans"/>
              </a:rPr>
              <a:t>) serves as a compact, human-readable translation of long binary strings.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solidFill>
                  <a:schemeClr val="bg1"/>
                </a:solidFill>
                <a:latin typeface="Google Sans"/>
              </a:rPr>
              <a:t>Context Agnostic:</a:t>
            </a:r>
            <a:r>
              <a:rPr lang="en-US" altLang="en-US" sz="1400" dirty="0">
                <a:solidFill>
                  <a:schemeClr val="bg1"/>
                </a:solidFill>
                <a:latin typeface="Google Sans"/>
              </a:rPr>
              <a:t> Parity generation operates purely on structural bit patterns, completely independent of data types or signed formats (like two's complement).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4688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6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37160"/>
            <a:ext cx="10500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Parity Design Rule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234440" y="658368"/>
            <a:ext cx="105000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INSTRUCTION FORMATS — FIELDS YOU DECODE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349240" cy="3246120"/>
          </a:xfrm>
          <a:prstGeom prst="roundRect">
            <a:avLst>
              <a:gd name="adj" fmla="val 2254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874520"/>
            <a:ext cx="1645920" cy="502920"/>
          </a:xfrm>
          <a:prstGeom prst="roundRect">
            <a:avLst>
              <a:gd name="adj" fmla="val 50909"/>
            </a:avLst>
          </a:prstGeom>
          <a:solidFill>
            <a:srgbClr val="2F6FE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874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RULE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2606040"/>
            <a:ext cx="4617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every data bit together, D0 through D7. Append the result as one extra bit — the parity field — onto the word before it's sent.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0" y="1508760"/>
            <a:ext cx="5349240" cy="3246120"/>
          </a:xfrm>
          <a:prstGeom prst="roundRect">
            <a:avLst>
              <a:gd name="adj" fmla="val 2254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874520"/>
            <a:ext cx="1645920" cy="502920"/>
          </a:xfrm>
          <a:prstGeom prst="roundRect">
            <a:avLst>
              <a:gd name="adj" fmla="val 50909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874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 RULE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83680" y="2606040"/>
            <a:ext cx="4617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every received bit, data and parity together. A result of 0 means the fields are still consistent (OK); a 1 flags a mismatch (ERROR).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50749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as an instruction's opcode / register / immediate fields: our word has fields too — a data field and a check field — and the receiver decodes them the same way it would decode an instruction.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39" y="617220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generator and checker are then connected: Data → Generator → Channel (may add noise) → Checker → Error Flag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4572"/>
            <a:ext cx="12191695" cy="10515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4688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6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37160"/>
            <a:ext cx="10500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Logisim Design — Parity Generator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234440" y="658368"/>
            <a:ext cx="105000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THE VISUAL SIMULATOR — LOGISIM / DIGITAL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53440" y="1719072"/>
            <a:ext cx="43434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data bits, D0 through D7, enter on the left — the same eight lines you'd wire up on a Logisim canvas.</a:t>
            </a:r>
            <a:endParaRPr lang="en-US" sz="1600" dirty="0">
              <a:solidFill>
                <a:schemeClr val="bg1"/>
              </a:solidFill>
            </a:endParaRPr>
          </a:p>
          <a:p>
            <a:pPr marL="228600" indent="-228600" algn="l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stages of XOR blocks combine them pairwise, halving the signal count each stage: 8 → 4 → 2 → 1.</a:t>
            </a:r>
            <a:endParaRPr lang="en-US" sz="1600" dirty="0">
              <a:solidFill>
                <a:schemeClr val="bg1"/>
              </a:solidFill>
            </a:endParaRPr>
          </a:p>
          <a:p>
            <a:pPr marL="228600" indent="-228600" algn="l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XOR's single output is the parity bit, P — the field appended to the word before transmission.</a:t>
            </a:r>
            <a:endParaRPr lang="en-US" sz="1600" dirty="0">
              <a:solidFill>
                <a:schemeClr val="bg1"/>
              </a:solidFill>
            </a:endParaRPr>
          </a:p>
          <a:p>
            <a:pPr marL="228600" indent="-228600" algn="l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it's wired from smaller black boxes, the whole tree can be dropped into a bigger circuit as one black box — exactly what the checker does next.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4724861" y="1808942"/>
            <a:ext cx="7009633" cy="492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simulated in Logisim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532284-1B27-4802-8028-42074DC04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264" y="2391296"/>
            <a:ext cx="4958064" cy="35507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8EAF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4688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6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37160"/>
            <a:ext cx="10500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Logisim Design — Parity Checker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4440" y="658368"/>
            <a:ext cx="105000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CONNECTING BLACK BOXES INTO BIGGER ONES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43434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checker reuses the exact same parity-tree black box from the generator — no need to redesign it.</a:t>
            </a:r>
            <a:endParaRPr lang="en-US" sz="1600" dirty="0">
              <a:solidFill>
                <a:schemeClr val="bg1"/>
              </a:solidFill>
            </a:endParaRPr>
          </a:p>
          <a:p>
            <a:pPr marL="228600" indent="-228600" algn="l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that tree over the received data bits to recompute what the parity should be.</a:t>
            </a:r>
            <a:endParaRPr lang="en-US" sz="1600" dirty="0">
              <a:solidFill>
                <a:schemeClr val="bg1"/>
              </a:solidFill>
            </a:endParaRPr>
          </a:p>
          <a:p>
            <a:pPr marL="228600" indent="-228600" algn="l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XOR gate compares that recomputed value against the parity bit that actually arrived with the data.</a:t>
            </a:r>
            <a:endParaRPr lang="en-US" sz="1600" dirty="0">
              <a:solidFill>
                <a:schemeClr val="bg1"/>
              </a:solidFill>
            </a:endParaRPr>
          </a:p>
          <a:p>
            <a:pPr marL="228600" indent="-228600" algn="l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0 means the two agree (OK); output 1 means they don't (ERROR) — the whole detector is just XOR blocks wired to XOR blocks.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BDA615-312D-480B-BAB3-D29B049B2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989" y="2281518"/>
            <a:ext cx="5892535" cy="3491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8EAF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4688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6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37160"/>
            <a:ext cx="10500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Circuit to Code: The Software Black Box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4440" y="658368"/>
            <a:ext cx="105000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HARDWARE VS SOFTWARE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and software are two ways of computing the same function — here is the same generator-and-checker logic as a deliberately basic Java program, using the built-in ^ (XOR) operator.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74723" y="2039112"/>
            <a:ext cx="10811131" cy="4434840"/>
          </a:xfrm>
          <a:prstGeom prst="roundRect">
            <a:avLst>
              <a:gd name="adj" fmla="val 1649"/>
            </a:avLst>
          </a:prstGeom>
          <a:solidFill>
            <a:schemeClr val="tx1">
              <a:lumMod val="85000"/>
              <a:lumOff val="15000"/>
            </a:schemeClr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1947672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19476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ParityCheck.java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2532888"/>
            <a:ext cx="98755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E8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ParityCheck {</a:t>
            </a:r>
            <a:endParaRPr lang="en-US" sz="15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E8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15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E8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8 data bits</a:t>
            </a:r>
            <a:endParaRPr lang="en-US" sz="15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E8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d0=1, d1=0, d2=1, d3=0, d4=1, d5=1, d6=0, d7=1;</a:t>
            </a:r>
            <a:endParaRPr lang="en-US" sz="1500" dirty="0"/>
          </a:p>
          <a:p>
            <a:pPr marL="0" indent="0">
              <a:lnSpc>
                <a:spcPct val="116000"/>
              </a:lnSpc>
              <a:buNone/>
            </a:pPr>
            <a:endParaRPr lang="en-US" sz="15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E8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parity = d0^d1^d2^d3^d4^d5^d6^d7;      // Generator</a:t>
            </a:r>
            <a:endParaRPr lang="en-US" sz="15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E8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System.out.println("Parity bit: " + parity);</a:t>
            </a:r>
            <a:endParaRPr lang="en-US" sz="1500" dirty="0"/>
          </a:p>
          <a:p>
            <a:pPr marL="0" indent="0">
              <a:lnSpc>
                <a:spcPct val="116000"/>
              </a:lnSpc>
              <a:buNone/>
            </a:pPr>
            <a:endParaRPr lang="en-US" sz="15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E8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d3 = d3 ^ 1;                                // noise flips one bit</a:t>
            </a:r>
            <a:endParaRPr lang="en-US" sz="1500" dirty="0"/>
          </a:p>
          <a:p>
            <a:pPr marL="0" indent="0">
              <a:lnSpc>
                <a:spcPct val="116000"/>
              </a:lnSpc>
              <a:buNone/>
            </a:pPr>
            <a:endParaRPr lang="en-US" sz="15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E8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check = parity^d0^d1^d2^d3^d4^d5^d6^d7; // Checker</a:t>
            </a:r>
            <a:endParaRPr lang="en-US" sz="15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E8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System.out.println(check == 1 ? "ERROR detected!" : "No error (OK)");</a:t>
            </a:r>
            <a:endParaRPr lang="en-US" sz="15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E8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E8EA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8EAF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4688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6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37160"/>
            <a:ext cx="10500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to the Fetch-Decode-Execute Cycle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4440" y="658368"/>
            <a:ext cx="105000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THE FETCH-DECODE-EXECUTE CYCLE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62636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12000"/>
              </a:lnSpc>
              <a:spcAft>
                <a:spcPts val="1500"/>
              </a:spcAft>
              <a:buSzPct val="100000"/>
              <a:buChar char="▪"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^ in that Java line is one XOR operation — and on real hardware, each operation is one full trip around the fetch-decode-execute cycle traced on the working CPU in Module 1.</a:t>
            </a:r>
            <a:endParaRPr lang="en-US" dirty="0">
              <a:solidFill>
                <a:schemeClr val="bg1"/>
              </a:solidFill>
            </a:endParaRPr>
          </a:p>
          <a:p>
            <a:pPr marL="228600" indent="-228600" algn="l">
              <a:lnSpc>
                <a:spcPct val="112000"/>
              </a:lnSpc>
              <a:spcAft>
                <a:spcPts val="1500"/>
              </a:spcAft>
              <a:buSzPct val="100000"/>
              <a:buChar char="▪"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Fetch: the CPU reads the next instruction that performs the XOR from memory.</a:t>
            </a:r>
            <a:endParaRPr lang="en-US" dirty="0">
              <a:solidFill>
                <a:schemeClr val="bg1"/>
              </a:solidFill>
            </a:endParaRPr>
          </a:p>
          <a:p>
            <a:pPr marL="228600" indent="-228600" algn="l">
              <a:lnSpc>
                <a:spcPct val="112000"/>
              </a:lnSpc>
              <a:spcAft>
                <a:spcPts val="1500"/>
              </a:spcAft>
              <a:buSzPct val="100000"/>
              <a:buChar char="▪"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Decode: it works out which registers hold the two bits being combined.</a:t>
            </a:r>
            <a:endParaRPr lang="en-US" dirty="0">
              <a:solidFill>
                <a:schemeClr val="bg1"/>
              </a:solidFill>
            </a:endParaRPr>
          </a:p>
          <a:p>
            <a:pPr marL="228600" indent="-228600" algn="l">
              <a:lnSpc>
                <a:spcPct val="112000"/>
              </a:lnSpc>
              <a:spcAft>
                <a:spcPts val="1500"/>
              </a:spcAft>
              <a:buSzPct val="100000"/>
              <a:buChar char="▪"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Execute: the ALU black box — opened in a later module — produces the result, which is written back before the cycle repeats for the next ^.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Image 0" descr="/home/claude/proj/diagram_fd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508760"/>
            <a:ext cx="4206240" cy="43434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9" name="Text 6"/>
          <p:cNvSpPr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4688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6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37160"/>
            <a:ext cx="10500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Walkthrough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234440" y="658368"/>
            <a:ext cx="105000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RUN AND STEP THEM — OBSERVING BEHAVIOR</a:t>
            </a:r>
            <a:endParaRPr lang="en-US" sz="1050" dirty="0">
              <a:solidFill>
                <a:schemeClr val="bg1"/>
              </a:solidFill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26334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sent (D0…D7)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received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Checker 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1 0 1 0 1 1 0 1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1 0 1 0 1 1 0 1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F9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Single-bit error (D3 flips)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1 0 1 0 1 1 0 1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1 0 1 1 1 1 0 1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F9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detected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Double-bit error (D3 &amp; D5 flip)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1 0 1 0 1 1 0 1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1 0 1 1 1 0 0 1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 — missed!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434839"/>
            <a:ext cx="11064240" cy="1240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single-bit flip always changes the count of 1s from even to odd, so the checker always catches it. Two flips can cancel out and slip through undetected — the well-known limitation of simple parity.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54864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Cheap: one extra bit catches every single-bit (odd-count) error.</a:t>
            </a:r>
            <a:endParaRPr lang="en-US" sz="1300" dirty="0"/>
          </a:p>
          <a:p>
            <a:pPr marL="228600" indent="-228600" algn="l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Limited: it can only flag an error, never correct it, and misses even-count flips.</a:t>
            </a:r>
            <a:endParaRPr lang="en-US" sz="1300" dirty="0"/>
          </a:p>
        </p:txBody>
      </p:sp>
      <p:sp>
        <p:nvSpPr>
          <p:cNvPr id="7" name="Text 7"/>
          <p:cNvSpPr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Loop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E8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 black box — data in, OK / ERROR out — before worrying about its internals, the same outside-in path Module 1 promises for the whole machine.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E8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Composed a bigger black box (the checker) out of a smaller, already-tested one (the generator) — the same habit used to connect the PC, register file, ALU, and control unit.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E8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the same function twice — once in Logisim, once in Java — a small, hands-on look at the hardware/software boundary.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E8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tracked with the same tools from Day One: Logisim/Digital for simulation, and Git for version control.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“One black box opened. Many more to go.”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1276</Words>
  <Application>Microsoft Office PowerPoint</Application>
  <PresentationFormat>Widescreen</PresentationFormat>
  <Paragraphs>147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Welcome</cp:lastModifiedBy>
  <cp:revision>12</cp:revision>
  <dcterms:created xsi:type="dcterms:W3CDTF">2026-09-08T08:14:50Z</dcterms:created>
  <dcterms:modified xsi:type="dcterms:W3CDTF">2026-09-09T13:19:43Z</dcterms:modified>
</cp:coreProperties>
</file>