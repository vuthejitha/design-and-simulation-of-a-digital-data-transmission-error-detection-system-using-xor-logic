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Inter"/>
      <p:bold r:id="rId18"/>
    </p:embeddedFont>
    <p:embeddedFont>
      <p:font typeface="JetBrains Mono"/>
      <p:regular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677667"/>
            <a:ext cx="66675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142232"/>
            <a:ext cx="2105025" cy="276225"/>
          </a:xfrm>
          <a:prstGeom prst="roundRect">
            <a:avLst>
              <a:gd name="adj" fmla="val 13793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2418457"/>
            <a:ext cx="9301162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8FAFC"/>
                </a:solidFill>
                <a:latin typeface="Inter"/>
              </a:rPr>
              <a:t>Digital Data Transmission Error Detection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748087"/>
            <a:ext cx="733425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Design &amp; Logisim Simulation using XOR Logic across Addressable Memory and Register File Buses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50" y="2199382"/>
            <a:ext cx="19335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Inter"/>
              </a:rPr>
              <a:t>MODULE 3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28925" y="2199382"/>
            <a:ext cx="2381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4A3B8"/>
                </a:solidFill>
                <a:latin typeface="Inter"/>
              </a:rPr>
              <a:t>LOGIC &amp; MEMORY DATAPATH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071687"/>
            <a:ext cx="5181600" cy="10382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3300412"/>
            <a:ext cx="5181600" cy="10382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529137"/>
            <a:ext cx="5181600" cy="10382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071687"/>
            <a:ext cx="38100" cy="10382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300412"/>
            <a:ext cx="38100" cy="10382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529137"/>
            <a:ext cx="38100" cy="10382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09775"/>
            <a:ext cx="5410200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124075"/>
            <a:ext cx="5181600" cy="3390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SYSTEM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7627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Module 3 Storage &amp; Data Transmission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262187"/>
            <a:ext cx="62507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Addressable Storage Buses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519362"/>
            <a:ext cx="4857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Data lines between CPU Register File and Memory face noise during write/read operations.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490912"/>
            <a:ext cx="62507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The von Neumann Bottleneck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748087"/>
            <a:ext cx="4857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Frequent data transfers across memory lines increase potential single-bit line corruption.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719637"/>
            <a:ext cx="62507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In-Line Error Checking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976812"/>
            <a:ext cx="4857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XOR logic provides low-latency error detection before data enters register storage.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09787"/>
            <a:ext cx="5581650" cy="3457575"/>
          </a:xfrm>
          <a:prstGeom prst="roundRect">
            <a:avLst>
              <a:gd name="adj" fmla="val 330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34150" y="2581275"/>
            <a:ext cx="5048250" cy="1162050"/>
          </a:xfrm>
          <a:prstGeom prst="roundRect">
            <a:avLst>
              <a:gd name="adj" fmla="val 983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34150" y="3933825"/>
            <a:ext cx="5048250" cy="1162050"/>
          </a:xfrm>
          <a:prstGeom prst="roundRect">
            <a:avLst>
              <a:gd name="adj" fmla="val 98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76300" y="2757487"/>
          <a:ext cx="5048248" cy="2009775"/>
        </p:xfrm>
        <a:graphic>
          <a:graphicData uri="http://schemas.openxmlformats.org/drawingml/2006/table">
            <a:tbl>
              <a:tblPr/>
              <a:tblGrid>
                <a:gridCol w="1339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3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54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955"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0F172A"/>
                          </a:solidFill>
                          <a:latin typeface="Inter"/>
                        </a:rPr>
                        <a:t>Input 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0F172A"/>
                          </a:solidFill>
                          <a:latin typeface="Inter"/>
                        </a:rPr>
                        <a:t>Input 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2563EB"/>
                          </a:solidFill>
                          <a:latin typeface="Inter"/>
                        </a:rPr>
                        <a:t>Output (A ⊕ B)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1E293B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2563EB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1E293B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2563EB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1E293B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u="none">
                          <a:solidFill>
                            <a:srgbClr val="1E293B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1E293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LOGIC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7627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Exclusive OR (XOR) Logic for Parity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2376487"/>
            <a:ext cx="662582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XOR Truth Table &amp; Property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919662"/>
            <a:ext cx="5143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Modulo-2 Addition: Outputs HIGH (1) if and only if an odd number of inputs are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0" y="2809875"/>
            <a:ext cx="54292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40AF"/>
                </a:solidFill>
                <a:latin typeface="Inter"/>
              </a:rPr>
              <a:t>Odd Number of 1s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750" y="3114675"/>
            <a:ext cx="4686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E3A8A"/>
                </a:solidFill>
                <a:latin typeface="Inter"/>
              </a:rPr>
              <a:t>Cascading XOR gates directly computes whether binary word data contains an even or odd count of HIGH bits.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750" y="4162425"/>
            <a:ext cx="54292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Zero LUT Overhead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0" y="4467225"/>
            <a:ext cx="46863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Implemented purely with combinational XOR gates without needing lookup memory or complex ALUs.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24162"/>
            <a:ext cx="3505200" cy="2028825"/>
          </a:xfrm>
          <a:prstGeom prst="roundRect">
            <a:avLst>
              <a:gd name="adj" fmla="val 5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824162"/>
            <a:ext cx="3505200" cy="2028825"/>
          </a:xfrm>
          <a:prstGeom prst="roundRect">
            <a:avLst>
              <a:gd name="adj" fmla="val 5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24162"/>
            <a:ext cx="3505200" cy="2028825"/>
          </a:xfrm>
          <a:prstGeom prst="roundRect">
            <a:avLst>
              <a:gd name="adj" fmla="val 5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76300" y="3090862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610100" y="3090862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43900" y="3090862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TRANSMITTER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7627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4-Bit Even Parity Generator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425" y="3090862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624262"/>
            <a:ext cx="39004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Register Data 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929062"/>
            <a:ext cx="3067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Read 4 data bits (D0, D1, D2, D3) from CPU register file output ports.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7225" y="3090862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3624262"/>
            <a:ext cx="39004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XOR Cascade Reduction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929062"/>
            <a:ext cx="306705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Compute even parity bit P using boolean logic equation: P = D0 ⊕ D1 ⊕ D2 ⊕ D3.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1025" y="3090862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3900" y="3624262"/>
            <a:ext cx="38481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Bus Frame Assembly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3900" y="3929062"/>
            <a:ext cx="30670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Append check bit P to data payload creating a 5-bit codeword for bus transmission.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86050"/>
            <a:ext cx="5200650" cy="1038225"/>
          </a:xfrm>
          <a:prstGeom prst="roundRect">
            <a:avLst>
              <a:gd name="adj" fmla="val 917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914775"/>
            <a:ext cx="5200650" cy="1038225"/>
          </a:xfrm>
          <a:prstGeom prst="roundRect">
            <a:avLst>
              <a:gd name="adj" fmla="val 917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150" y="2009775"/>
            <a:ext cx="5429250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2124075"/>
            <a:ext cx="5200650" cy="3390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TRANSMISSION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7627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Logisim Error Injection &amp; Bus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876550"/>
            <a:ext cx="632579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Channel Noise 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133725"/>
            <a:ext cx="49149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In Logisim, a single XOR gate with an Error_Inject toggle simulates real-world bus line noise.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4105275"/>
            <a:ext cx="632579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Single Bit-Flip Mechanics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4362450"/>
            <a:ext cx="49149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When Error_Inject = 0, bit passes untouched. When Error_Inject = 1, output bit inverts.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09912"/>
            <a:ext cx="3505200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109912"/>
            <a:ext cx="3505200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109912"/>
            <a:ext cx="3505200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RECEIVER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7627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Parity Checker &amp; Error Flag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376612"/>
            <a:ext cx="39004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Codeword Reception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700462"/>
            <a:ext cx="3067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Receive 5 incoming bus lines: D0', D1', D2', D3', and parity bit P'.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0100" y="3376612"/>
            <a:ext cx="39004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Full XOR Reduction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0100" y="3700462"/>
            <a:ext cx="3067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Compute error status: Error = D0' ⊕ D1' ⊕ D2' ⊕ D3' ⊕ P'.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3376612"/>
            <a:ext cx="38481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Error Alert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3900" y="3700462"/>
            <a:ext cx="30670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Output 0 indicates clean transmission; Output 1 triggers bus error flag.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47912"/>
            <a:ext cx="10972800" cy="2638425"/>
          </a:xfrm>
          <a:prstGeom prst="roundRect">
            <a:avLst>
              <a:gd name="adj" fmla="val 433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3986212"/>
            <a:ext cx="10363200" cy="695325"/>
          </a:xfrm>
          <a:prstGeom prst="roundRect">
            <a:avLst>
              <a:gd name="adj" fmla="val 1095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2662237"/>
            <a:ext cx="1800225" cy="419100"/>
          </a:xfrm>
          <a:prstGeom prst="roundRect">
            <a:avLst>
              <a:gd name="adj" fmla="val 18181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72575" y="2652712"/>
            <a:ext cx="2105025" cy="438150"/>
          </a:xfrm>
          <a:prstGeom prst="roundRect">
            <a:avLst>
              <a:gd name="adj" fmla="val 1739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3328987"/>
            <a:ext cx="1819275" cy="419100"/>
          </a:xfrm>
          <a:prstGeom prst="roundRect">
            <a:avLst>
              <a:gd name="adj" fmla="val 18181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53525" y="3319462"/>
            <a:ext cx="2124075" cy="438150"/>
          </a:xfrm>
          <a:prstGeom prst="roundRect">
            <a:avLst>
              <a:gd name="adj" fmla="val 1739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734550" y="4138612"/>
            <a:ext cx="1390650" cy="390525"/>
          </a:xfrm>
          <a:prstGeom prst="roundRect">
            <a:avLst>
              <a:gd name="adj" fmla="val 14634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CIRCUIT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7627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Balanced XOR Tree in Logisim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381000" y="5138737"/>
            <a:ext cx="12954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Balanced binary tree topology reduces propagation delay from 3t_pd to 2t_pd compared to linear cascade.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" y="2776537"/>
            <a:ext cx="15144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Inter"/>
              </a:rPr>
              <a:t>Data Inputs: D0, D1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8275" y="2776537"/>
            <a:ext cx="17383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0A5FA"/>
                </a:solidFill>
                <a:latin typeface="Inter"/>
              </a:rPr>
              <a:t>→ [ XOR Gate 1 ]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63075" y="2767012"/>
            <a:ext cx="18192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Inter"/>
              </a:rPr>
              <a:t>Intermediate (D0 ⊕ D1)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" y="3443287"/>
            <a:ext cx="15335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Inter"/>
              </a:rPr>
              <a:t>Data Inputs: D2, D3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3987" y="3443287"/>
            <a:ext cx="177403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0A5FA"/>
                </a:solidFill>
                <a:latin typeface="Inter"/>
              </a:rPr>
              <a:t>→ [ XOR Gate 2 ]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44025" y="3433762"/>
            <a:ext cx="18383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Inter"/>
              </a:rPr>
              <a:t>Intermediate (D2 ⊕ D3)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6800" y="4238625"/>
            <a:ext cx="15001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Inter"/>
              </a:rPr>
              <a:t>Tree Final Stage: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1637" y="4238625"/>
            <a:ext cx="13239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[ XOR Gate 3 ]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3150" y="4233862"/>
            <a:ext cx="10287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Parity Bit 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90725"/>
            <a:ext cx="6560790" cy="3657600"/>
          </a:xfrm>
          <a:prstGeom prst="roundRect">
            <a:avLst>
              <a:gd name="adj" fmla="val 312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513290" y="2705100"/>
            <a:ext cx="4069109" cy="1038225"/>
          </a:xfrm>
          <a:prstGeom prst="roundRect">
            <a:avLst>
              <a:gd name="adj" fmla="val 917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513290" y="3895725"/>
            <a:ext cx="4069109" cy="1038225"/>
          </a:xfrm>
          <a:prstGeom prst="roundRect">
            <a:avLst>
              <a:gd name="adj" fmla="val 917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SOFTWARE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7627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Basic Java Parity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219325"/>
            <a:ext cx="619884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Inter"/>
              </a:rPr>
              <a:t>// Basic Java XOR Parity Logic boolean d0 = true, d1 = false; boolean d2 = true, d3 = true; // 1. Generate Even Parity Bit boolean parity = d0 ^ d1 ^ d2 ^ d3; // 2. Simulate Error Injection (Bit Flip) boolean corruptedD1 = !d1; // Flip D1 // 3. Receiver Error Verification boolean hasError = d0 ^ corruptedD1 ^ d2 ^ d3 ^ parity; System.out.println("Error Detected: " + hasError); // Output: Error Detected: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219325"/>
            <a:ext cx="619884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8BDF8"/>
                </a:solidFill>
                <a:latin typeface="JetBrains Mono"/>
              </a:rPr>
              <a:t>// Basic Java XOR Parity Logic boolean d0 = true, d1 = false; boolean d2 = true, d3 = true; // 1. Generate Even Parity Bit boolean parity = d0 ^ d1 ^ d2 ^ d3; // 2. Simulate Error Injection (Bit Flip) boolean corruptedD1 = !d1; // Flip D1 // 3. Receiver Error Verification boolean hasError = d0 ^ corruptedD1 ^ d2 ^ d3 ^ parity; System.out.println("Error Detected: " + hasError); // Output: Error Detected: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3790" y="2895600"/>
            <a:ext cx="448820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Java Bitwise Operator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3790" y="3152775"/>
            <a:ext cx="378335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The `^` operator directly mirrors hardware XOR gate behavioral logic.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03790" y="4086225"/>
            <a:ext cx="448820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Direct Equivalence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3790" y="4343400"/>
            <a:ext cx="378335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Software boolean expression maps 1:1 to Logisim combinational gate schematics.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52775"/>
            <a:ext cx="2600325" cy="1371600"/>
          </a:xfrm>
          <a:prstGeom prst="roundRect">
            <a:avLst>
              <a:gd name="adj" fmla="val 55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3152775"/>
            <a:ext cx="2600325" cy="1371600"/>
          </a:xfrm>
          <a:prstGeom prst="roundRect">
            <a:avLst>
              <a:gd name="adj" fmla="val 55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3152775"/>
            <a:ext cx="2600325" cy="1371600"/>
          </a:xfrm>
          <a:prstGeom prst="roundRect">
            <a:avLst>
              <a:gd name="adj" fmla="val 55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3152775"/>
            <a:ext cx="2600325" cy="1371600"/>
          </a:xfrm>
          <a:prstGeom prst="roundRect">
            <a:avLst>
              <a:gd name="adj" fmla="val 55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152775"/>
            <a:ext cx="2600325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00425" y="3152775"/>
            <a:ext cx="2600325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91250" y="3152775"/>
            <a:ext cx="2600325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82075" y="3152775"/>
            <a:ext cx="2600325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STORAGE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7627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Verifying Storage Read/Write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419475"/>
            <a:ext cx="281285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1. Write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695700"/>
            <a:ext cx="22383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Store data word with XOR parity into CPU register file.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9025" y="3419475"/>
            <a:ext cx="281285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2. Bus Transfer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9025" y="3695700"/>
            <a:ext cx="22383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Transmit codeword over memory address/data lines.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850" y="3419475"/>
            <a:ext cx="281285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3. Read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850" y="3695700"/>
            <a:ext cx="22383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Execute XOR parity reduction on read cycle.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0675" y="3419475"/>
            <a:ext cx="281285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4. Status Flag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0675" y="3695700"/>
            <a:ext cx="22383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Flag CPU pipeline to retry memory fetch if error detected.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67000"/>
            <a:ext cx="5314950" cy="2343150"/>
          </a:xfrm>
          <a:prstGeom prst="roundRect">
            <a:avLst>
              <a:gd name="adj" fmla="val 4878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67450" y="2767012"/>
            <a:ext cx="5314950" cy="2143125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952750"/>
            <a:ext cx="19050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150" y="3052762"/>
            <a:ext cx="19050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SYSTEM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7627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Capabilities vs.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2933700"/>
            <a:ext cx="6275784" cy="228600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66534"/>
                </a:solidFill>
                <a:latin typeface="Inter"/>
              </a:rPr>
              <a:t>What Single XOR Detects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3033712"/>
            <a:ext cx="5657850" cy="228600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91B1B"/>
                </a:solidFill>
                <a:latin typeface="Inter"/>
              </a:rPr>
              <a:t>System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314700"/>
            <a:ext cx="4876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4532D"/>
                </a:solidFill>
                <a:latin typeface="Inter"/>
              </a:rPr>
              <a:t>Single-Bit Flips:</a:t>
            </a:r>
            <a:r>
              <a:rPr sz="1350" b="0" i="0" u="none">
                <a:solidFill>
                  <a:srgbClr val="14532D"/>
                </a:solidFill>
                <a:latin typeface="Inter"/>
              </a:rPr>
              <a:t> 100% detection rate for any single wire fault.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829050"/>
            <a:ext cx="4876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4532D"/>
                </a:solidFill>
                <a:latin typeface="Inter"/>
              </a:rPr>
              <a:t>Odd Multi-Bit Errors:</a:t>
            </a:r>
            <a:r>
              <a:rPr sz="1350" b="0" i="0" u="none">
                <a:solidFill>
                  <a:srgbClr val="14532D"/>
                </a:solidFill>
                <a:latin typeface="Inter"/>
              </a:rPr>
              <a:t> Detects 3, 5, or 7 bit flips across the bus.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343400"/>
            <a:ext cx="4876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4532D"/>
                </a:solidFill>
                <a:latin typeface="Inter"/>
              </a:rPr>
              <a:t>Minimal Overhead:</a:t>
            </a:r>
            <a:r>
              <a:rPr sz="1350" b="0" i="0" u="none">
                <a:solidFill>
                  <a:srgbClr val="14532D"/>
                </a:solidFill>
                <a:latin typeface="Inter"/>
              </a:rPr>
              <a:t> Requires only 1 extra bit per data word.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4150" y="3414712"/>
            <a:ext cx="56578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7F1D1D"/>
                </a:solidFill>
                <a:latin typeface="Inter"/>
              </a:rPr>
              <a:t>Even Bit Flips:</a:t>
            </a:r>
            <a:r>
              <a:rPr sz="1350" b="0" i="0" u="none">
                <a:solidFill>
                  <a:srgbClr val="7F1D1D"/>
                </a:solidFill>
                <a:latin typeface="Inter"/>
              </a:rPr>
              <a:t> Blind to 2-bit or 4-bit simultaneous errors.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150" y="3729037"/>
            <a:ext cx="4876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7F1D1D"/>
                </a:solidFill>
                <a:latin typeface="Inter"/>
              </a:rPr>
              <a:t>No Correction:</a:t>
            </a:r>
            <a:r>
              <a:rPr sz="1350" b="0" i="0" u="none">
                <a:solidFill>
                  <a:srgbClr val="7F1D1D"/>
                </a:solidFill>
                <a:latin typeface="Inter"/>
              </a:rPr>
              <a:t> Detects corruption but cannot identify which bit flipped.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150" y="4243387"/>
            <a:ext cx="4876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7F1D1D"/>
                </a:solidFill>
                <a:latin typeface="Inter"/>
              </a:rPr>
              <a:t>Module 4/5 Upgrade:</a:t>
            </a:r>
            <a:r>
              <a:rPr sz="1350" b="0" i="0" u="none">
                <a:solidFill>
                  <a:srgbClr val="7F1D1D"/>
                </a:solidFill>
                <a:latin typeface="Inter"/>
              </a:rPr>
              <a:t> Hamming code needed for error correction.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101107"/>
            <a:ext cx="10972800" cy="85725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MODULE 3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627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Module 3 Storage &amp; XOR System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238125" y="4329707"/>
            <a:ext cx="12668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34155"/>
                </a:solidFill>
                <a:latin typeface="Inter"/>
              </a:rPr>
              <a:t>Module Scope: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Registers &amp; flip-flops remain provided black boxes. Sequential elements (Module 4), ALUs (Module 5), and general gate implementations (Module 6) build upon this datapath parity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8266" y="2776537"/>
            <a:ext cx="2607468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2563EB"/>
                </a:solidFill>
                <a:latin typeface="Inter"/>
              </a:rP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8266" y="3462337"/>
            <a:ext cx="26074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Single-Bit Error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18298" y="2776537"/>
            <a:ext cx="3155156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0F172A"/>
                </a:solidFill>
                <a:latin typeface="Inter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8298" y="3462337"/>
            <a:ext cx="3155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ALU / Lookup Memory Needed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023" y="2718792"/>
            <a:ext cx="2107406" cy="725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2563EB"/>
                </a:solidFill>
                <a:latin typeface="Inter"/>
              </a:rPr>
              <a:t>2 t</a:t>
            </a:r>
            <a:r>
              <a:rPr sz="3999" b="1" i="0" u="none">
                <a:solidFill>
                  <a:srgbClr val="2563EB"/>
                </a:solidFill>
                <a:latin typeface="Inter"/>
              </a:rPr>
              <a:t>pd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06023" y="3520082"/>
            <a:ext cx="21074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Balanced Tree Delay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33875" y="3943350"/>
            <a:ext cx="3524250" cy="447675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764208" y="2466975"/>
            <a:ext cx="8663582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8FAFC"/>
                </a:solidFill>
                <a:latin typeface="Inter"/>
              </a:rPr>
              <a:t>System Simulation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181350"/>
            <a:ext cx="762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Inter"/>
              </a:rPr>
              <a:t>Digital Data Transmission Error Detection using XOR Logic integrated with Module 3 Memory &amp; Register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043" y="4057650"/>
            <a:ext cx="387191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8BDF8"/>
                </a:solidFill>
                <a:latin typeface="Inter"/>
              </a:rPr>
              <a:t>Questions &amp; Logisim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926</Words>
  <Application>Microsoft Office PowerPoint</Application>
  <PresentationFormat>Widescreen</PresentationFormat>
  <Paragraphs>112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JetBrains Mono</vt:lpstr>
      <vt:lpstr>Inter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Welcome</cp:lastModifiedBy>
  <cp:revision>2</cp:revision>
  <dcterms:created xsi:type="dcterms:W3CDTF">2013-01-27T09:14:16Z</dcterms:created>
  <dcterms:modified xsi:type="dcterms:W3CDTF">2026-10-01T03:23:22Z</dcterms:modified>
  <cp:category/>
</cp:coreProperties>
</file>