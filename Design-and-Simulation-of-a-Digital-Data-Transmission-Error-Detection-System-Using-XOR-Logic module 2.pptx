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2.png"/><Relationship Id="rId11" Type="http://schemas.openxmlformats.org/officeDocument/2006/relationships/image" Target="../media/image-6-3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5.png"/><Relationship Id="rId8" Type="http://schemas.openxmlformats.org/officeDocument/2006/relationships/image" Target="../media/image-10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2338"/>
            <a:ext cx="10868745" cy="10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Design and Simulation of a Digital Data Transmission Error Detection System Using XOR Logic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63353"/>
            <a:ext cx="1086874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Combinational Logic Approach for Detecting Transmission Errors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62145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016647"/>
            <a:ext cx="635986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Subject:</a:t>
            </a:r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Digital Logic Design  |  </a:t>
            </a:r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Module:</a:t>
            </a:r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2 — Combinational Circuits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Members: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[Names]  | 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Roll Numbers: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[Roll Nos]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Section / Batch: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[Section]  | 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College: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[Institution Name]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31100" y="3053854"/>
            <a:ext cx="4105371" cy="810220"/>
          </a:xfrm>
          <a:prstGeom prst="roundRect">
            <a:avLst>
              <a:gd name="adj" fmla="val 8574"/>
            </a:avLst>
          </a:prstGeom>
          <a:solidFill>
            <a:srgbClr val="002A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394" y="3274516"/>
            <a:ext cx="206667" cy="1652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68356" y="3243957"/>
            <a:ext cx="3402820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Binary data flows through a channel — XOR logic catches every flipped bit in real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442218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0" name="Shape 7"/>
          <p:cNvSpPr/>
          <p:nvPr/>
        </p:nvSpPr>
        <p:spPr>
          <a:xfrm>
            <a:off x="1656118" y="4422180"/>
            <a:ext cx="19050" cy="49609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1" name="Shape 8"/>
          <p:cNvSpPr/>
          <p:nvPr/>
        </p:nvSpPr>
        <p:spPr>
          <a:xfrm>
            <a:off x="1479612" y="423614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41622" y="4260949"/>
            <a:ext cx="248041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826769" y="5083770"/>
            <a:ext cx="1677747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TRANSMITTER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6769" y="5451773"/>
            <a:ext cx="1677747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1 0 1 1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871121" y="4422180"/>
            <a:ext cx="19050" cy="49609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6" name="Shape 13"/>
          <p:cNvSpPr/>
          <p:nvPr/>
        </p:nvSpPr>
        <p:spPr>
          <a:xfrm>
            <a:off x="3694615" y="423614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6626" y="4260949"/>
            <a:ext cx="248041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3041772" y="5083770"/>
            <a:ext cx="167784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DIGITAL CHANNEL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041772" y="5720556"/>
            <a:ext cx="1677846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Noise / Interference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86224" y="4422180"/>
            <a:ext cx="19050" cy="49609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1" name="Shape 18"/>
          <p:cNvSpPr/>
          <p:nvPr/>
        </p:nvSpPr>
        <p:spPr>
          <a:xfrm>
            <a:off x="5909718" y="423614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71728" y="4260949"/>
            <a:ext cx="248041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5256875" y="5083770"/>
            <a:ext cx="167784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RECEIVER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256875" y="5451773"/>
            <a:ext cx="1677846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1 0 0 1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301326" y="4422180"/>
            <a:ext cx="19050" cy="49609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6" name="Shape 23"/>
          <p:cNvSpPr/>
          <p:nvPr/>
        </p:nvSpPr>
        <p:spPr>
          <a:xfrm>
            <a:off x="8124820" y="423614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830" y="4260949"/>
            <a:ext cx="248041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7471977" y="5083770"/>
            <a:ext cx="167784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DETECTOR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71977" y="5451773"/>
            <a:ext cx="1677846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0 0 1 0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0516428" y="4422180"/>
            <a:ext cx="19050" cy="49609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31" name="Shape 28"/>
          <p:cNvSpPr/>
          <p:nvPr/>
        </p:nvSpPr>
        <p:spPr>
          <a:xfrm>
            <a:off x="10339923" y="423614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401933" y="4260949"/>
            <a:ext cx="248041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9687080" y="5083770"/>
            <a:ext cx="167784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ERROR STATUS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687080" y="5451773"/>
            <a:ext cx="1677846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ERROR DETECTED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0241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Do We Need Error Detection?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198830" y="1843385"/>
            <a:ext cx="525885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Bits Flip in Transit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98830" y="2277467"/>
            <a:ext cx="5258859" cy="64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data travels as binary 0s and 1s across communication channels. Electrical noise, electromagnetic interference, and signal degradation can silently flip individual bits during transmission.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98830" y="3304778"/>
            <a:ext cx="525885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Receiver Cannot Know Automatically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8830" y="3738860"/>
            <a:ext cx="5258859" cy="64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Without dedicated comparison logic, the receiver has no mechanism to distinguish correct data from corrupted data — errors pass through silently.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98830" y="4766171"/>
            <a:ext cx="525885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Is the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8830" y="5200253"/>
            <a:ext cx="5258859" cy="65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XOR compares corresponding transmitted and received bits. Output =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when bits differ. A single OR gate aggregates all XOR outputs into one ERROR FLAG.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48393" y="1605756"/>
            <a:ext cx="4907137" cy="4431903"/>
          </a:xfrm>
          <a:prstGeom prst="roundRect">
            <a:avLst>
              <a:gd name="adj" fmla="val 2687"/>
            </a:avLst>
          </a:prstGeom>
          <a:solidFill>
            <a:srgbClr val="00D4FF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13687" y="1771055"/>
            <a:ext cx="457654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13687" y="2205137"/>
            <a:ext cx="4576549" cy="276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Transmitted: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00C7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1 0 1 1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Received: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00C7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1 0 0 1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Outputs: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00C7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0 0 1 0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             ↑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      Error at Bit 1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ERROR FLAG = 1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ERROR DETECTED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Error Detection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06252"/>
            <a:ext cx="11478330" cy="80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follows a linear pipeline from data origination to error status output. Two distinct data paths emerge after comparison — one confirming integrity, one raising an alert.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645" y="933252"/>
            <a:ext cx="9696406" cy="5298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26245" y="3409883"/>
            <a:ext cx="2246753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Input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99678" y="3375408"/>
            <a:ext cx="2246753" cy="31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Transmission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28174" y="3386447"/>
            <a:ext cx="2246753" cy="31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Error Detection</a:t>
            </a:r>
            <a:endParaRPr lang="en-US" sz="1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6324798"/>
            <a:ext cx="5333569" cy="6207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7620" y="6420148"/>
            <a:ext cx="5092077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spc="-16" kern="0" dirty="0">
                <a:solidFill>
                  <a:srgbClr val="00FF8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 Path 1 — No Error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07620" y="6595765"/>
            <a:ext cx="5092077" cy="254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Transmitted bits = Received bits</a:t>
            </a:r>
            <a:endParaRPr lang="en-US" sz="650" dirty="0"/>
          </a:p>
          <a:p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All XOR outputs = </a:t>
            </a:r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650" dirty="0"/>
          </a:p>
          <a:p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ERROR FLAG = </a:t>
            </a:r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pPr algn="l" indent="0" marL="0">
              <a:lnSpc>
                <a:spcPct val="8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ERROR</a:t>
            </a:r>
            <a:endParaRPr lang="en-US" sz="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3001" y="6324798"/>
            <a:ext cx="5333569" cy="6207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49147" y="6420148"/>
            <a:ext cx="5092077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spc="-16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pPr algn="l" indent="0" marL="0">
              <a:lnSpc>
                <a:spcPct val="108000"/>
              </a:lnSpc>
              <a:buNone/>
            </a:pPr>
            <a:r>
              <a:rPr lang="en-US" sz="800" b="1" spc="-16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Path 2 — Error Detected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6349147" y="6595765"/>
            <a:ext cx="5092077" cy="254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or more bits changed in channel</a:t>
            </a:r>
            <a:endParaRPr lang="en-US" sz="650" dirty="0"/>
          </a:p>
          <a:p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At least one XOR output = </a:t>
            </a:r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650" dirty="0"/>
          </a:p>
          <a:p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ERROR FLAG = </a:t>
            </a:r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pPr algn="l" indent="0" marL="0">
              <a:lnSpc>
                <a:spcPct val="81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ERROR DETECTED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10495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as the Core Error Detector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14042"/>
            <a:ext cx="1086874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Truth Table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330873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429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 ⊕ R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Meaning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</a:tr>
              <a:tr h="438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No Error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6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66131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Module 2 Connection: K-Map &amp; Logic Simplification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34295"/>
            <a:ext cx="11478330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K-Maps provide the formal Boolean algebra foundation that derives and verifies the XOR gate implementation from first principles.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397349"/>
            <a:ext cx="1086874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K-Map for 1-Bit Comparison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914180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29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 \ T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 = 0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 = 1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</a:tr>
              <a:tr h="4356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 = 0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3313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Module 2 Connection: NAND, MUX &amp; Decoder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01477"/>
            <a:ext cx="10868745" cy="826691"/>
          </a:xfrm>
          <a:prstGeom prst="roundRect">
            <a:avLst>
              <a:gd name="adj" fmla="val 8403"/>
            </a:avLst>
          </a:prstGeom>
          <a:solidFill>
            <a:srgbClr val="002A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1715790"/>
            <a:ext cx="206667" cy="165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8731" y="1708051"/>
            <a:ext cx="10166195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core XOR error detector uses basic XOR gates. NAND, MUX, and decoder represent alternative or extended implementations rooted in Module 2 combinational circuit theory.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14203"/>
            <a:ext cx="3512653" cy="3710384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93781" y="2647752"/>
            <a:ext cx="248041" cy="2480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5819" y="3194645"/>
            <a:ext cx="314396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NAND-Only Implementation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45819" y="3562648"/>
            <a:ext cx="3143965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Universal Gate Property:</a:t>
            </a:r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XOR constructed entirely from NAND gates — critical for VLSI design where fabrication standardizes on NAND cells.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 = ((T NAND R) NAND (T NAND R))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NAND ((T NAND T) NAND (R NAND R))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45819" y="5063827"/>
            <a:ext cx="3143965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Requires 4 NAND gates per bit. Preferred in silicon implementations for area efficiency.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9422" y="2514203"/>
            <a:ext cx="3512752" cy="3710384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1728" y="2647752"/>
            <a:ext cx="248041" cy="2480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523766" y="3194645"/>
            <a:ext cx="314406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Multiplexer-Based Selection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523766" y="3562648"/>
            <a:ext cx="3144064" cy="203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Path Routing:</a:t>
            </a:r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MUX can select between transmitted and received data paths, or route error signals to appropriate output channels based on a select line.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flexible data steering in extended multi-channel systems where different error responses are needed per channel.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4523766" y="5696148"/>
            <a:ext cx="3144064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MUX select line acts as a mode controller — normal mode vs. diagnostic mode.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7468" y="2514203"/>
            <a:ext cx="3512653" cy="371038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49774" y="2647752"/>
            <a:ext cx="248041" cy="24804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201812" y="3194645"/>
            <a:ext cx="314396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Decoder for Control Logic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8201812" y="3562648"/>
            <a:ext cx="3143965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State Classification:</a:t>
            </a:r>
            <a:pPr algn="l" indent="0" marL="0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decoder generates unique output lines for each input bit combination, enabling precise classification of error patterns across multiple bits.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Used in control and status logic when the system must distinguish between single-bit, double-bit, and burst errors.</a:t>
            </a:r>
            <a:endParaRPr lang="en-US" sz="1300" dirty="0"/>
          </a:p>
        </p:txBody>
      </p:sp>
      <p:sp>
        <p:nvSpPr>
          <p:cNvPr id="20" name="Text 11"/>
          <p:cNvSpPr/>
          <p:nvPr/>
        </p:nvSpPr>
        <p:spPr>
          <a:xfrm>
            <a:off x="8201812" y="5481141"/>
            <a:ext cx="3143965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2-to-4 decoder maps 2-bit error codes to 4 distinct status lines.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6235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Comparator &amp; Error Status Circuit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4399"/>
            <a:ext cx="10868745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XOR gate is functionally a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1-bit magnitude comparator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the foundational building block of all digital comparison circuits covered in Module 2.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165747"/>
            <a:ext cx="4105371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1-Bit Comparator Behavior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2620566"/>
            <a:ext cx="4105371" cy="2870200"/>
          </a:xfrm>
          <a:prstGeom prst="roundRect">
            <a:avLst>
              <a:gd name="adj" fmla="val 242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0524" y="2639616"/>
            <a:ext cx="4067272" cy="1416050"/>
          </a:xfrm>
          <a:custGeom>
            <a:avLst/>
            <a:gdLst/>
            <a:ahLst/>
            <a:cxnLst/>
            <a:rect l="l" t="t" r="r" b="b"/>
            <a:pathLst>
              <a:path w="4067272" h="1416050">
                <a:moveTo>
                  <a:pt x="57887" y="0"/>
                </a:moveTo>
                <a:lnTo>
                  <a:pt x="4009385" y="0"/>
                </a:lnTo>
                <a:arcTo hR="57888" wR="57887" stAng="16200000" swAng="5400000"/>
                <a:lnTo>
                  <a:pt x="4067272" y="1416050"/>
                </a:lnTo>
                <a:lnTo>
                  <a:pt x="0" y="1416050"/>
                </a:lnTo>
                <a:lnTo>
                  <a:pt x="0" y="57888"/>
                </a:lnTo>
                <a:arcTo hR="57888" wR="57887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7" name="Text 5"/>
          <p:cNvSpPr/>
          <p:nvPr/>
        </p:nvSpPr>
        <p:spPr>
          <a:xfrm>
            <a:off x="845819" y="2804914"/>
            <a:ext cx="3736683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FF88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 = 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19" y="3238996"/>
            <a:ext cx="3736683" cy="65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XOR =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Bits match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error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0524" y="4055666"/>
            <a:ext cx="4067272" cy="1416050"/>
          </a:xfrm>
          <a:custGeom>
            <a:avLst/>
            <a:gdLst/>
            <a:ahLst/>
            <a:cxnLst/>
            <a:rect l="l" t="t" r="r" b="b"/>
            <a:pathLst>
              <a:path w="4067272" h="1416050">
                <a:moveTo>
                  <a:pt x="0" y="0"/>
                </a:moveTo>
                <a:lnTo>
                  <a:pt x="4067272" y="0"/>
                </a:lnTo>
                <a:lnTo>
                  <a:pt x="4067272" y="1358162"/>
                </a:lnTo>
                <a:arcTo hR="57888" wR="57887" stAng="0" swAng="5400000"/>
                <a:lnTo>
                  <a:pt x="57887" y="1416050"/>
                </a:lnTo>
                <a:arcTo hR="57888" wR="57887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0" name="Shape 8"/>
          <p:cNvSpPr/>
          <p:nvPr/>
        </p:nvSpPr>
        <p:spPr>
          <a:xfrm>
            <a:off x="680524" y="4055666"/>
            <a:ext cx="4067272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1" name="Text 9"/>
          <p:cNvSpPr/>
          <p:nvPr/>
        </p:nvSpPr>
        <p:spPr>
          <a:xfrm>
            <a:off x="845819" y="4220964"/>
            <a:ext cx="3736683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 ≠ 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19" y="4655046"/>
            <a:ext cx="3736683" cy="65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XOR =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Bits differ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Error flagged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1475" y="5676801"/>
            <a:ext cx="4105371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Module 2 Connection: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This circuit directly implements the digital comparator — comparing two binary values and producing an equality/inequality output signal.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76609" y="2165747"/>
            <a:ext cx="6359862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4-Bit Comparison: Worked Examples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76609" y="2620566"/>
          <a:ext cx="9143771" cy="914400"/>
        </p:xfrm>
        <a:graphic>
          <a:graphicData uri="http://schemas.openxmlformats.org/drawingml/2006/table">
            <a:tbl>
              <a:tblPr/>
              <a:tblGrid>
                <a:gridCol w="2119954"/>
                <a:gridCol w="2119954"/>
                <a:gridCol w="2119954"/>
              </a:tblGrid>
              <a:tr h="429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Parameter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Example 1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Example 2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99FF"/>
                    </a:solidFill>
                  </a:tcPr>
                </a:tc>
              </a:tr>
              <a:tr h="438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Transmitted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1 0 1 1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1 0 1 1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Received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1 0 1 1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1 0 0 1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E₃ E₂ E₁ E₀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0 0 0 0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0 0 1 0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9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ERROR FLAG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176609" y="3039537"/>
            <a:ext cx="6359862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176609" y="3478371"/>
            <a:ext cx="6359862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176609" y="3917205"/>
            <a:ext cx="6359862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176609" y="4356038"/>
            <a:ext cx="6359862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5116"/>
            <a:ext cx="10868745" cy="47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spc="-5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Circuit Design and Simulation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178719"/>
            <a:ext cx="10868745" cy="352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Logic simulation (Logisim or equivalent) validates the complete 4-bit XOR error detection system with exhaustive test cases covering both correct and erroneous transmission scenarios.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800523"/>
            <a:ext cx="4360059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Simulation Components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746" y="2163415"/>
            <a:ext cx="216986" cy="2169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1661" y="2177951"/>
            <a:ext cx="388987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Transmitted data input bus: 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T₃ T₂ T₁ T₀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2836218"/>
            <a:ext cx="216986" cy="2169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1661" y="2850753"/>
            <a:ext cx="388987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Received data input bus: 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R₃ R₂ R₁ R₀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746" y="3509020"/>
            <a:ext cx="216986" cy="2169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1661" y="3523555"/>
            <a:ext cx="3889873" cy="17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XOR gate array — 4 gates for bit-by-bit comparison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746" y="4181822"/>
            <a:ext cx="216986" cy="2169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31661" y="4196358"/>
            <a:ext cx="3889873" cy="17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4-input OR gate for ERROR FLAG aggregation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5746" y="4854625"/>
            <a:ext cx="216986" cy="21699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31661" y="4869160"/>
            <a:ext cx="3889873" cy="17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Output indicator: LED or 7-segment display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661475" y="5431135"/>
            <a:ext cx="4360059" cy="829270"/>
          </a:xfrm>
          <a:prstGeom prst="roundRect">
            <a:avLst>
              <a:gd name="adj" fmla="val 7329"/>
            </a:avLst>
          </a:prstGeom>
          <a:solidFill>
            <a:srgbClr val="002A80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132" y="5600601"/>
            <a:ext cx="180871" cy="14466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31661" y="5581154"/>
            <a:ext cx="37452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Simulation validates XOR comparison identifies bit mismatches correctly in all test cases — real-time detection, zero latency memory required.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5380895" y="1800523"/>
            <a:ext cx="615557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Simulation Test Cases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80895" y="2177951"/>
          <a:ext cx="9143771" cy="914400"/>
        </p:xfrm>
        <a:graphic>
          <a:graphicData uri="http://schemas.openxmlformats.org/drawingml/2006/table">
            <a:tbl>
              <a:tblPr/>
              <a:tblGrid>
                <a:gridCol w="1025929"/>
                <a:gridCol w="1025929"/>
                <a:gridCol w="1025929"/>
                <a:gridCol w="1025929"/>
                <a:gridCol w="1025929"/>
                <a:gridCol w="1025929"/>
              </a:tblGrid>
              <a:tr h="340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Test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TX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RX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XOR Out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Flag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Result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</a:tr>
              <a:tr h="517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FF88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NO ERROR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47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2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ERROR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47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3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ERROR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4717" marR="14471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" name="Text 11"/>
          <p:cNvSpPr/>
          <p:nvPr/>
        </p:nvSpPr>
        <p:spPr>
          <a:xfrm>
            <a:off x="5380895" y="3885803"/>
            <a:ext cx="6155576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test case exercises a unique bit error position. Test 1 confirms true-negative (no false alarms). Tests 2 and 3 confirm true-positive detection at different bit positions across the 4-bit word.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4308"/>
            <a:ext cx="10868745" cy="49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Extending the System: Adders, Adder-Subtractor &amp; ALU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1475" y="1270893"/>
            <a:ext cx="3548371" cy="231676"/>
          </a:xfrm>
          <a:prstGeom prst="roundRect">
            <a:avLst>
              <a:gd name="adj" fmla="val 22113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2952" y="1316633"/>
            <a:ext cx="3975001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OPTIONAL EXTENSIONS — BEYOND BASIC XOR DETECTION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1660624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core project delivers XOR-based error detection. The components below represent 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optional architectural extensions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 apply Module 2 combinational concepts to build more capable error-processing systems.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99680"/>
            <a:ext cx="228693" cy="2286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568873"/>
            <a:ext cx="3505807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Adders — Error Counting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2900958"/>
            <a:ext cx="3505807" cy="1043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4-bit binary adder sums the individual error bits:</a:t>
            </a:r>
            <a:endParaRPr lang="en-US" sz="1200" dirty="0"/>
          </a:p>
          <a:p>
            <a:pPr algn="l"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E₃ + E₂ + E₁ + E₀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Reports the total number of erroneous bits (0–4), enabling severity classification beyond simple detection.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2894" y="2199680"/>
            <a:ext cx="228693" cy="2286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2894" y="2568873"/>
            <a:ext cx="3505807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Adder-Subtractor — Checksums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342894" y="2900958"/>
            <a:ext cx="3505807" cy="1036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Performs numerical comparison, checksum computation, or data offset processing in advanced error-handling pipelines.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 bit switches between addition and subtraction for flexible data verification.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4314" y="2199680"/>
            <a:ext cx="228693" cy="2286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24314" y="2568873"/>
            <a:ext cx="3505807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ALU — Full Processing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024314" y="2900958"/>
            <a:ext cx="3505807" cy="1036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Combines comparison, arithmetic, and logic operations into a unified unit for comprehensive data analysis and error response generation.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Represents the complete integration of all Module 2 combinational concepts.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1339" y="4102199"/>
            <a:ext cx="3668918" cy="22613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59141" y="4265583"/>
            <a:ext cx="1250393" cy="17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spc="-2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Detection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096088" y="6023425"/>
            <a:ext cx="1250393" cy="17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spc="-2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Error Bits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846437" y="4265583"/>
            <a:ext cx="1344776" cy="17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spc="-2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Optional Adder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582061" y="6017385"/>
            <a:ext cx="1250393" cy="17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spc="-2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 Output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0084"/>
            <a:ext cx="10868745" cy="461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spc="-5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Results and 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77243"/>
            <a:ext cx="526104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Verification Results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45543"/>
          <a:ext cx="9143771" cy="914400"/>
        </p:xfrm>
        <a:graphic>
          <a:graphicData uri="http://schemas.openxmlformats.org/drawingml/2006/table">
            <a:tbl>
              <a:tblPr/>
              <a:tblGrid>
                <a:gridCol w="1315260"/>
                <a:gridCol w="1315260"/>
                <a:gridCol w="1315260"/>
                <a:gridCol w="1315260"/>
              </a:tblGrid>
              <a:tr h="330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Transmitted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Received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Error Bits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Result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</a:tr>
              <a:tr h="337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FF88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No Error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37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Error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7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Error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37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FF88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No Error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42133" marR="1421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3475434"/>
            <a:ext cx="526104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61475" y="3900587"/>
            <a:ext cx="71039" cy="71041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7" name="Text 4"/>
          <p:cNvSpPr/>
          <p:nvPr/>
        </p:nvSpPr>
        <p:spPr>
          <a:xfrm>
            <a:off x="854649" y="3843734"/>
            <a:ext cx="5067868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communication systems and serial data transmission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1475" y="4316611"/>
            <a:ext cx="71039" cy="71041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9" name="Text 6"/>
          <p:cNvSpPr/>
          <p:nvPr/>
        </p:nvSpPr>
        <p:spPr>
          <a:xfrm>
            <a:off x="854649" y="4259759"/>
            <a:ext cx="5067868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Computer networks and inter-system data buses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4732635"/>
            <a:ext cx="71039" cy="71041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1" name="Text 8"/>
          <p:cNvSpPr/>
          <p:nvPr/>
        </p:nvSpPr>
        <p:spPr>
          <a:xfrm>
            <a:off x="854649" y="4675783"/>
            <a:ext cx="5067868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Memory systems and data integrity checking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475" y="5148659"/>
            <a:ext cx="71039" cy="71041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3" name="Text 10"/>
          <p:cNvSpPr/>
          <p:nvPr/>
        </p:nvSpPr>
        <p:spPr>
          <a:xfrm>
            <a:off x="854649" y="5091807"/>
            <a:ext cx="5067868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Embedded systems and IoT edge devices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5564684"/>
            <a:ext cx="71039" cy="71041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5" name="Text 12"/>
          <p:cNvSpPr/>
          <p:nvPr/>
        </p:nvSpPr>
        <p:spPr>
          <a:xfrm>
            <a:off x="854649" y="5507831"/>
            <a:ext cx="5067868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error detection in control systems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75528" y="1277243"/>
            <a:ext cx="526104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Conclusions</a:t>
            </a:r>
            <a:endParaRPr lang="en-US" sz="13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5528" y="1645543"/>
            <a:ext cx="2569404" cy="159335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12853" y="1806674"/>
            <a:ext cx="217095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— Simple &amp; Efficient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512853" y="2159794"/>
            <a:ext cx="2170951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bit-mismatch detection with minimal hardware — 4 XOR gates + 1 OR gate for a 4-bit system.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7067" y="1645543"/>
            <a:ext cx="2569503" cy="159335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04392" y="1806674"/>
            <a:ext cx="217105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Combinational = Real-Time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204392" y="2390775"/>
            <a:ext cx="2171050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clock, no memory required. Detection occurs instantaneously as inputs propagate through gates.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5528" y="3361035"/>
            <a:ext cx="2569404" cy="15341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12853" y="3522166"/>
            <a:ext cx="217095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K-Maps Validate Design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512853" y="3875286"/>
            <a:ext cx="2170951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Boolean minimization confirms XOR as the optimal implementation — minimal gate count, minimal delay.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7067" y="3361035"/>
            <a:ext cx="2569503" cy="15341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04392" y="3522166"/>
            <a:ext cx="217105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Module 2 Fully Applied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04392" y="3875286"/>
            <a:ext cx="2171050" cy="85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NAND, MUX, decoder, comparator, adder, and ALU concepts each contribute to design alternatives and system extensions.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75528" y="5067995"/>
            <a:ext cx="5261042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6275528" y="5259884"/>
            <a:ext cx="526104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6275528" y="5613003"/>
            <a:ext cx="5261042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demonstrates XOR-based combinational error detection — </a:t>
            </a:r>
            <a:pPr algn="ctr" indent="0" marL="0">
              <a:lnSpc>
                <a:spcPct val="101000"/>
              </a:lnSpc>
              <a:spcAft>
                <a:spcPts val="85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simple logic, real-world impact.</a:t>
            </a:r>
            <a:endParaRPr lang="en-US" sz="1100" dirty="0"/>
          </a:p>
          <a:p>
            <a:pPr algn="ctr" indent="0" marL="0">
              <a:lnSpc>
                <a:spcPct val="101000"/>
              </a:lnSpc>
              <a:buNone/>
            </a:pPr>
            <a:r>
              <a:rPr lang="en-US" sz="11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Questions welcome for viva examination.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2026-10-01T03:36:16Z</dcterms:created>
  <dcterms:modified xsi:type="dcterms:W3CDTF">2026-10-01T03:36:16Z</dcterms:modified>
</cp:coreProperties>
</file>